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2" r:id="rId7"/>
    <p:sldId id="266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  <p:embeddedFont>
      <p:font typeface="Merriweather" panose="00000500000000000000" pitchFamily="2" charset="0"/>
      <p:regular r:id="rId14"/>
      <p:bold r:id="rId15"/>
      <p:italic r:id="rId16"/>
      <p:boldItalic r:id="rId17"/>
    </p:embeddedFont>
    <p:embeddedFont>
      <p:font typeface="Outfit Extra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4259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15D0-69A1-F58B-45B9-5FC86ED0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603969-DD2B-AC1D-DE02-8B4E0767AF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CE5BF4-75F0-2D08-81EE-179987D8C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02D98-61FF-F560-611F-3AA2AD38CE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344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2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5" Type="http://schemas.openxmlformats.org/officeDocument/2006/relationships/image" Target="../media/image4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pn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5.svg"/><Relationship Id="rId9" Type="http://schemas.openxmlformats.org/officeDocument/2006/relationships/image" Target="../media/image27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8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5.svg"/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2.svg"/><Relationship Id="rId11" Type="http://schemas.openxmlformats.org/officeDocument/2006/relationships/image" Target="../media/image4.png"/><Relationship Id="rId5" Type="http://schemas.openxmlformats.org/officeDocument/2006/relationships/image" Target="../media/image4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image" Target="../media/image4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hyperlink" Target="https://www.linkedin.com/in/guru-sai-sumith100" TargetMode="External"/><Relationship Id="rId5" Type="http://schemas.openxmlformats.org/officeDocument/2006/relationships/hyperlink" Target="mailto:gsssai2005@gmail.com" TargetMode="External"/><Relationship Id="rId4" Type="http://schemas.openxmlformats.org/officeDocument/2006/relationships/image" Target="../media/image4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1995E2F2-6071-3D25-BC27-02E44D2B9C1F}"/>
              </a:ext>
            </a:extLst>
          </p:cNvPr>
          <p:cNvSpPr/>
          <p:nvPr/>
        </p:nvSpPr>
        <p:spPr>
          <a:xfrm>
            <a:off x="10735778" y="7148319"/>
            <a:ext cx="3781156" cy="1025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Shape 0"/>
          <p:cNvSpPr/>
          <p:nvPr/>
        </p:nvSpPr>
        <p:spPr>
          <a:xfrm>
            <a:off x="9144000" y="-60"/>
            <a:ext cx="5486400" cy="8229600"/>
          </a:xfrm>
          <a:prstGeom prst="rect">
            <a:avLst/>
          </a:prstGeom>
          <a:solidFill>
            <a:srgbClr val="E9E6FA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7348" y="608290"/>
            <a:ext cx="5259586" cy="7012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33236" y="736997"/>
            <a:ext cx="6677527" cy="708779"/>
          </a:xfrm>
          <a:prstGeom prst="roundRect">
            <a:avLst>
              <a:gd name="adj" fmla="val 17880"/>
            </a:avLst>
          </a:prstGeom>
          <a:solidFill>
            <a:srgbClr val="D7D2F9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1353397" y="978090"/>
            <a:ext cx="3026688" cy="2580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250"/>
              </a:lnSpc>
              <a:buNone/>
            </a:pPr>
            <a:r>
              <a:rPr lang="en-US" sz="3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HACKAP 2026 · AGENTIC AI . AI4AP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3076516" y="163667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 err="1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SkillForge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93790" y="260223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93790" y="3946088"/>
            <a:ext cx="7556421" cy="3247073"/>
          </a:xfrm>
          <a:prstGeom prst="roundRect">
            <a:avLst>
              <a:gd name="adj" fmla="val 2934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1410" y="3953708"/>
            <a:ext cx="7541181" cy="807958"/>
          </a:xfrm>
          <a:prstGeom prst="roundRect">
            <a:avLst>
              <a:gd name="adj" fmla="val 11791"/>
            </a:avLst>
          </a:prstGeom>
          <a:solidFill>
            <a:srgbClr val="E9E6FA"/>
          </a:solidFill>
          <a:ln/>
        </p:spPr>
      </p:sp>
      <p:sp>
        <p:nvSpPr>
          <p:cNvPr id="10" name="Text 7"/>
          <p:cNvSpPr/>
          <p:nvPr/>
        </p:nvSpPr>
        <p:spPr>
          <a:xfrm>
            <a:off x="1028224" y="418052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⚙️</a:t>
            </a: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Agentic Pipeline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801410" y="4761667"/>
            <a:ext cx="7541181" cy="807958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12" name="Shape 9"/>
          <p:cNvSpPr/>
          <p:nvPr/>
        </p:nvSpPr>
        <p:spPr>
          <a:xfrm>
            <a:off x="801410" y="4761667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3" name="Text 10"/>
          <p:cNvSpPr/>
          <p:nvPr/>
        </p:nvSpPr>
        <p:spPr>
          <a:xfrm>
            <a:off x="1028224" y="4988481"/>
            <a:ext cx="285226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🎯</a:t>
            </a: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Adaptive Learning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801410" y="5569625"/>
            <a:ext cx="7541181" cy="807958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15" name="Shape 12"/>
          <p:cNvSpPr/>
          <p:nvPr/>
        </p:nvSpPr>
        <p:spPr>
          <a:xfrm>
            <a:off x="801410" y="5569625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6" name="Text 13"/>
          <p:cNvSpPr/>
          <p:nvPr/>
        </p:nvSpPr>
        <p:spPr>
          <a:xfrm>
            <a:off x="1028224" y="57964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📜</a:t>
            </a: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Auto Certification</a:t>
            </a:r>
            <a:endParaRPr lang="en-US" sz="2800" dirty="0"/>
          </a:p>
        </p:txBody>
      </p:sp>
      <p:sp>
        <p:nvSpPr>
          <p:cNvPr id="17" name="Shape 14"/>
          <p:cNvSpPr/>
          <p:nvPr/>
        </p:nvSpPr>
        <p:spPr>
          <a:xfrm>
            <a:off x="801410" y="6377583"/>
            <a:ext cx="7541181" cy="807958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18" name="Shape 15"/>
          <p:cNvSpPr/>
          <p:nvPr/>
        </p:nvSpPr>
        <p:spPr>
          <a:xfrm>
            <a:off x="801410" y="6377583"/>
            <a:ext cx="7541181" cy="30480"/>
          </a:xfrm>
          <a:prstGeom prst="roundRect">
            <a:avLst>
              <a:gd name="adj" fmla="val 312558"/>
            </a:avLst>
          </a:prstGeom>
          <a:solidFill>
            <a:srgbClr val="BDB8DF"/>
          </a:solidFill>
          <a:ln/>
        </p:spPr>
      </p:sp>
      <p:sp>
        <p:nvSpPr>
          <p:cNvPr id="19" name="Text 16"/>
          <p:cNvSpPr/>
          <p:nvPr/>
        </p:nvSpPr>
        <p:spPr>
          <a:xfrm>
            <a:off x="1028224" y="66043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🧠</a:t>
            </a: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LLM-Powered</a:t>
            </a:r>
            <a:endParaRPr lang="en-US" sz="2800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E01A1B2-F1B4-573C-C084-A852E617A7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0933020" y="7103641"/>
            <a:ext cx="3583914" cy="1114756"/>
          </a:xfrm>
          <a:prstGeom prst="rect">
            <a:avLst/>
          </a:prstGeom>
        </p:spPr>
      </p:pic>
      <p:sp>
        <p:nvSpPr>
          <p:cNvPr id="24" name="Shape 6">
            <a:extLst>
              <a:ext uri="{FF2B5EF4-FFF2-40B4-BE49-F238E27FC236}">
                <a16:creationId xmlns:a16="http://schemas.microsoft.com/office/drawing/2014/main" id="{077C7C28-265B-A75F-196D-38C4DDB364AC}"/>
              </a:ext>
            </a:extLst>
          </p:cNvPr>
          <p:cNvSpPr/>
          <p:nvPr/>
        </p:nvSpPr>
        <p:spPr>
          <a:xfrm>
            <a:off x="5252591" y="2490587"/>
            <a:ext cx="3692962" cy="1264682"/>
          </a:xfrm>
          <a:prstGeom prst="rect">
            <a:avLst/>
          </a:prstGeom>
          <a:solidFill>
            <a:srgbClr val="003180"/>
          </a:solidFill>
          <a:ln/>
        </p:spPr>
      </p:sp>
      <p:sp>
        <p:nvSpPr>
          <p:cNvPr id="25" name="Shape 4">
            <a:extLst>
              <a:ext uri="{FF2B5EF4-FFF2-40B4-BE49-F238E27FC236}">
                <a16:creationId xmlns:a16="http://schemas.microsoft.com/office/drawing/2014/main" id="{84202F94-9287-1BDC-DADB-B50CDAC5A950}"/>
              </a:ext>
            </a:extLst>
          </p:cNvPr>
          <p:cNvSpPr/>
          <p:nvPr/>
        </p:nvSpPr>
        <p:spPr>
          <a:xfrm>
            <a:off x="1361182" y="2481952"/>
            <a:ext cx="3692962" cy="1264682"/>
          </a:xfrm>
          <a:prstGeom prst="roundRect">
            <a:avLst>
              <a:gd name="adj" fmla="val 8197"/>
            </a:avLst>
          </a:prstGeom>
          <a:solidFill>
            <a:srgbClr val="003180"/>
          </a:solidFill>
          <a:ln/>
        </p:spPr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E78B03A6-2DB6-CBF6-B56A-6C9374850598}"/>
              </a:ext>
            </a:extLst>
          </p:cNvPr>
          <p:cNvSpPr/>
          <p:nvPr/>
        </p:nvSpPr>
        <p:spPr>
          <a:xfrm>
            <a:off x="1571863" y="295382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 AI Agents</a:t>
            </a:r>
            <a:endParaRPr lang="en-US" sz="36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1334C795-68E4-FA93-7591-E4B628E64836}"/>
              </a:ext>
            </a:extLst>
          </p:cNvPr>
          <p:cNvSpPr/>
          <p:nvPr/>
        </p:nvSpPr>
        <p:spPr>
          <a:xfrm>
            <a:off x="5499408" y="2793325"/>
            <a:ext cx="3199328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Adaptation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FA845D8D-9074-825F-33B0-586203ADB96C}"/>
              </a:ext>
            </a:extLst>
          </p:cNvPr>
          <p:cNvSpPr/>
          <p:nvPr/>
        </p:nvSpPr>
        <p:spPr>
          <a:xfrm>
            <a:off x="10794380" y="7148319"/>
            <a:ext cx="3781156" cy="1025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 0"/>
          <p:cNvSpPr/>
          <p:nvPr/>
        </p:nvSpPr>
        <p:spPr>
          <a:xfrm>
            <a:off x="793790" y="64353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3790" y="1088588"/>
            <a:ext cx="75730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Learning Is Broken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93790" y="225087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87%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1455420" y="3282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Abandonment Rate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93790" y="377309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Learners quit before completing — content is generic, not goal-driven. </a:t>
            </a:r>
            <a:r>
              <a:rPr lang="en-US" sz="20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MOOC Research, 2024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235893" y="225087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$400B</a:t>
            </a:r>
            <a:endParaRPr lang="en-US" sz="6600" dirty="0"/>
          </a:p>
        </p:txBody>
      </p:sp>
      <p:sp>
        <p:nvSpPr>
          <p:cNvPr id="8" name="Text 6"/>
          <p:cNvSpPr/>
          <p:nvPr/>
        </p:nvSpPr>
        <p:spPr>
          <a:xfrm>
            <a:off x="5897523" y="3282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Wasted Annually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235893" y="377309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Corporate training that fails to close skill gaps. Companies pay for content, not outcomes.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0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McKinsey, 2024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677995" y="2250877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66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73%</a:t>
            </a:r>
            <a:endParaRPr lang="en-US" sz="6600" dirty="0"/>
          </a:p>
        </p:txBody>
      </p:sp>
      <p:sp>
        <p:nvSpPr>
          <p:cNvPr id="11" name="Text 9"/>
          <p:cNvSpPr/>
          <p:nvPr/>
        </p:nvSpPr>
        <p:spPr>
          <a:xfrm>
            <a:off x="10339626" y="328267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Skill Gap Crisis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677995" y="3773091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Engineering teams report skill gaps causing project delays. No diagnostic baseline exists. </a:t>
            </a:r>
          </a:p>
          <a:p>
            <a:pPr marL="0" indent="0" algn="ctr">
              <a:lnSpc>
                <a:spcPts val="2850"/>
              </a:lnSpc>
              <a:buNone/>
            </a:pPr>
            <a:r>
              <a:rPr lang="en-US" sz="2000" i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Stack Overflow, 2024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93790" y="520196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Root Causes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93790" y="5937091"/>
            <a:ext cx="13042821" cy="1689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personalization — same curriculum for everyone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feedback loop — courses don't adapt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accountability — certificates, not proof of skill</a:t>
            </a:r>
            <a:endParaRPr lang="en-US" sz="200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autonomy — requires human teachers at every step</a:t>
            </a: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endParaRPr lang="en-US" sz="2000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ADBB507-1C31-D01A-17E1-696CD69D75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0946125" y="7108548"/>
            <a:ext cx="3583914" cy="11147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011" y="54221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Root Cause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93011" y="1166089"/>
            <a:ext cx="10001369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Why Every Learning Platform Fails the Same Way</a:t>
            </a:r>
            <a:endParaRPr lang="en-US" sz="4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10" y="1783547"/>
            <a:ext cx="5779532" cy="577953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534513" y="3238485"/>
            <a:ext cx="5779532" cy="1118473"/>
          </a:xfrm>
          <a:prstGeom prst="roundRect">
            <a:avLst>
              <a:gd name="adj" fmla="val 6521"/>
            </a:avLst>
          </a:prstGeom>
          <a:solidFill>
            <a:srgbClr val="FCF2B5"/>
          </a:solidFill>
          <a:ln/>
        </p:spPr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4903" y="3358588"/>
            <a:ext cx="217051" cy="1735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142148" y="3380120"/>
            <a:ext cx="504170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root cause:</a:t>
            </a:r>
            <a:r>
              <a:rPr lang="en-US" sz="200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Learning platforms are content delivery systems, not intelligence systems. Built for scale, not individual skill mastery. 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34513" y="4928949"/>
            <a:ext cx="5779532" cy="73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SkillForge replaces the entire delivery model with an </a:t>
            </a:r>
            <a:r>
              <a:rPr lang="en-US" sz="2000" b="1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autonomous agent loop</a:t>
            </a: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diagnosing, planning, practicing, evaluating, and certifying without human intervention.</a:t>
            </a:r>
            <a:endParaRPr lang="en-US" sz="20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3CC1E9-EE89-0370-0D03-1EDC8C547584}"/>
              </a:ext>
            </a:extLst>
          </p:cNvPr>
          <p:cNvSpPr/>
          <p:nvPr/>
        </p:nvSpPr>
        <p:spPr>
          <a:xfrm>
            <a:off x="10794380" y="7148319"/>
            <a:ext cx="3781156" cy="1025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CB946B-CBF3-DC94-E529-8FA1941914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0946125" y="7098388"/>
            <a:ext cx="3583914" cy="11147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04072" cy="8229600"/>
          </a:xfrm>
          <a:prstGeom prst="rect">
            <a:avLst/>
          </a:prstGeom>
          <a:solidFill>
            <a:srgbClr val="E9E6FA"/>
          </a:solidFill>
          <a:ln/>
        </p:spPr>
      </p:sp>
      <p:sp>
        <p:nvSpPr>
          <p:cNvPr id="4" name="Text 1"/>
          <p:cNvSpPr/>
          <p:nvPr/>
        </p:nvSpPr>
        <p:spPr>
          <a:xfrm>
            <a:off x="6106597" y="554236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106597" y="886420"/>
            <a:ext cx="7903607" cy="1107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SkillForge AI — Not a Course. An Agent.</a:t>
            </a:r>
            <a:endParaRPr lang="en-US" sz="4400" dirty="0"/>
          </a:p>
        </p:txBody>
      </p:sp>
      <p:sp>
        <p:nvSpPr>
          <p:cNvPr id="6" name="Shape 3"/>
          <p:cNvSpPr/>
          <p:nvPr/>
        </p:nvSpPr>
        <p:spPr>
          <a:xfrm>
            <a:off x="6106597" y="2201585"/>
            <a:ext cx="7903607" cy="1264682"/>
          </a:xfrm>
          <a:prstGeom prst="roundRect">
            <a:avLst>
              <a:gd name="adj" fmla="val 5885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129457" y="2224445"/>
            <a:ext cx="708779" cy="1218962"/>
          </a:xfrm>
          <a:prstGeom prst="roundRect">
            <a:avLst>
              <a:gd name="adj" fmla="val 6631"/>
            </a:avLst>
          </a:prstGeom>
          <a:solidFill>
            <a:srgbClr val="E9E6FA"/>
          </a:solidFill>
          <a:ln/>
        </p:spPr>
      </p:sp>
      <p:sp>
        <p:nvSpPr>
          <p:cNvPr id="8" name="Text 5"/>
          <p:cNvSpPr/>
          <p:nvPr/>
        </p:nvSpPr>
        <p:spPr>
          <a:xfrm>
            <a:off x="6347103" y="2667833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976586" y="2401610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🔍</a:t>
            </a: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Diagnose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976586" y="2761417"/>
            <a:ext cx="68335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Decomposes your goal into a skill tree, generates targeted open-ended questions, scores proficiency baseline per skill — in minutes.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6106597" y="3604617"/>
            <a:ext cx="7903607" cy="1264682"/>
          </a:xfrm>
          <a:prstGeom prst="roundRect">
            <a:avLst>
              <a:gd name="adj" fmla="val 5885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129457" y="3627477"/>
            <a:ext cx="708779" cy="1218962"/>
          </a:xfrm>
          <a:prstGeom prst="roundRect">
            <a:avLst>
              <a:gd name="adj" fmla="val 6631"/>
            </a:avLst>
          </a:prstGeom>
          <a:solidFill>
            <a:srgbClr val="E9E6FA"/>
          </a:solidFill>
          <a:ln/>
        </p:spPr>
      </p:sp>
      <p:sp>
        <p:nvSpPr>
          <p:cNvPr id="13" name="Text 10"/>
          <p:cNvSpPr/>
          <p:nvPr/>
        </p:nvSpPr>
        <p:spPr>
          <a:xfrm>
            <a:off x="6347103" y="4070866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6976586" y="3804642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📋</a:t>
            </a: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Plan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6976586" y="4164449"/>
            <a:ext cx="7033618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Builds a sequenced day-by-day roadmap — weakest skills first, strongest compressed. Every day has a specific objective and challenge.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106597" y="5007650"/>
            <a:ext cx="7903607" cy="1264682"/>
          </a:xfrm>
          <a:prstGeom prst="roundRect">
            <a:avLst>
              <a:gd name="adj" fmla="val 5885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29457" y="5030510"/>
            <a:ext cx="708779" cy="1218962"/>
          </a:xfrm>
          <a:prstGeom prst="roundRect">
            <a:avLst>
              <a:gd name="adj" fmla="val 6631"/>
            </a:avLst>
          </a:prstGeom>
          <a:solidFill>
            <a:srgbClr val="E9E6FA"/>
          </a:solidFill>
          <a:ln/>
        </p:spPr>
      </p:sp>
      <p:sp>
        <p:nvSpPr>
          <p:cNvPr id="18" name="Text 15"/>
          <p:cNvSpPr/>
          <p:nvPr/>
        </p:nvSpPr>
        <p:spPr>
          <a:xfrm>
            <a:off x="6347103" y="5473898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3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6976586" y="5207675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⚔️</a:t>
            </a: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Practice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6976586" y="5567482"/>
            <a:ext cx="68335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Daily challenges require reasoned, written responses. Struggling? Plan adapts. Excelling? Plan accelerates. Real evaluation, not MCQ.</a:t>
            </a:r>
            <a:endParaRPr lang="en-US" sz="1700" dirty="0"/>
          </a:p>
        </p:txBody>
      </p:sp>
      <p:sp>
        <p:nvSpPr>
          <p:cNvPr id="21" name="Shape 18"/>
          <p:cNvSpPr/>
          <p:nvPr/>
        </p:nvSpPr>
        <p:spPr>
          <a:xfrm>
            <a:off x="6106597" y="6410682"/>
            <a:ext cx="7903607" cy="1264682"/>
          </a:xfrm>
          <a:prstGeom prst="roundRect">
            <a:avLst>
              <a:gd name="adj" fmla="val 5885"/>
            </a:avLst>
          </a:prstGeom>
          <a:solidFill>
            <a:srgbClr val="FAFAFA">
              <a:alpha val="95000"/>
            </a:srgbClr>
          </a:solidFill>
          <a:ln w="22860">
            <a:solidFill>
              <a:srgbClr val="BDB8D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129457" y="6433542"/>
            <a:ext cx="708779" cy="1218962"/>
          </a:xfrm>
          <a:prstGeom prst="roundRect">
            <a:avLst>
              <a:gd name="adj" fmla="val 6631"/>
            </a:avLst>
          </a:prstGeom>
          <a:solidFill>
            <a:srgbClr val="E9E6FA"/>
          </a:solidFill>
          <a:ln/>
        </p:spPr>
      </p:sp>
      <p:sp>
        <p:nvSpPr>
          <p:cNvPr id="23" name="Text 20"/>
          <p:cNvSpPr/>
          <p:nvPr/>
        </p:nvSpPr>
        <p:spPr>
          <a:xfrm>
            <a:off x="6347103" y="6876931"/>
            <a:ext cx="26574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32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4</a:t>
            </a:r>
            <a:endParaRPr lang="en-US" sz="3200" dirty="0"/>
          </a:p>
        </p:txBody>
      </p:sp>
      <p:sp>
        <p:nvSpPr>
          <p:cNvPr id="24" name="Text 21"/>
          <p:cNvSpPr/>
          <p:nvPr/>
        </p:nvSpPr>
        <p:spPr>
          <a:xfrm>
            <a:off x="6976586" y="6610707"/>
            <a:ext cx="2215039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📜</a:t>
            </a: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Certify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6976586" y="6970514"/>
            <a:ext cx="6833592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7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Full competency report: skill mastery radar chart, session trends, agent decision log, and narrative summary — shareable proof of skill.</a:t>
            </a:r>
            <a:endParaRPr lang="en-US" sz="1700" dirty="0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6298F97-36CF-F07D-BF9E-A43A8ECF07AC}"/>
              </a:ext>
            </a:extLst>
          </p:cNvPr>
          <p:cNvSpPr/>
          <p:nvPr/>
        </p:nvSpPr>
        <p:spPr>
          <a:xfrm>
            <a:off x="11643360" y="7695684"/>
            <a:ext cx="2932176" cy="49835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30" name="Graphic 29">
            <a:extLst>
              <a:ext uri="{FF2B5EF4-FFF2-40B4-BE49-F238E27FC236}">
                <a16:creationId xmlns:a16="http://schemas.microsoft.com/office/drawing/2014/main" id="{9FD175D6-5186-A4CA-3434-E28CE4D0F9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1724640" y="7652504"/>
            <a:ext cx="2805399" cy="560640"/>
          </a:xfrm>
          <a:prstGeom prst="rect">
            <a:avLst/>
          </a:prstGeom>
        </p:spPr>
      </p:pic>
      <p:pic>
        <p:nvPicPr>
          <p:cNvPr id="35" name="Image 0" descr="preencoded.png">
            <a:extLst>
              <a:ext uri="{FF2B5EF4-FFF2-40B4-BE49-F238E27FC236}">
                <a16:creationId xmlns:a16="http://schemas.microsoft.com/office/drawing/2014/main" id="{7337509E-861E-CE01-10F6-F2549FD159E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736" t="5470" r="4393" b="5007"/>
          <a:stretch>
            <a:fillRect/>
          </a:stretch>
        </p:blipFill>
        <p:spPr>
          <a:xfrm>
            <a:off x="33453" y="894240"/>
            <a:ext cx="5738624" cy="571646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7">
            <a:extLst>
              <a:ext uri="{FF2B5EF4-FFF2-40B4-BE49-F238E27FC236}">
                <a16:creationId xmlns:a16="http://schemas.microsoft.com/office/drawing/2014/main" id="{7B1548C2-83AD-4C55-1BD4-1CADECD21EDC}"/>
              </a:ext>
            </a:extLst>
          </p:cNvPr>
          <p:cNvSpPr/>
          <p:nvPr/>
        </p:nvSpPr>
        <p:spPr>
          <a:xfrm>
            <a:off x="697843" y="1832986"/>
            <a:ext cx="8111125" cy="673087"/>
          </a:xfrm>
          <a:prstGeom prst="roundRect">
            <a:avLst>
              <a:gd name="adj" fmla="val 8355"/>
            </a:avLst>
          </a:prstGeom>
          <a:solidFill>
            <a:srgbClr val="022349"/>
          </a:solidFill>
          <a:ln/>
        </p:spPr>
      </p:sp>
      <p:sp>
        <p:nvSpPr>
          <p:cNvPr id="2" name="Text 0"/>
          <p:cNvSpPr/>
          <p:nvPr/>
        </p:nvSpPr>
        <p:spPr>
          <a:xfrm>
            <a:off x="712351" y="59114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Agentic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2351" y="954643"/>
            <a:ext cx="7298888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Full Autonomous Agent Loop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51" y="2782014"/>
            <a:ext cx="8420100" cy="315956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03166" y="3586811"/>
            <a:ext cx="434926" cy="4349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515673" y="5174563"/>
            <a:ext cx="1269984" cy="24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Session Loop</a:t>
            </a:r>
            <a:endParaRPr lang="en-US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10928" y="3587627"/>
            <a:ext cx="434926" cy="43492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15146" y="5174563"/>
            <a:ext cx="1269984" cy="24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Plan Builder</a:t>
            </a:r>
            <a:endParaRPr lang="en-US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719099" y="3587627"/>
            <a:ext cx="434926" cy="434926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4323317" y="5174563"/>
            <a:ext cx="1269984" cy="24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Diagnostic</a:t>
            </a:r>
            <a:endParaRPr lang="en-US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27270" y="3587627"/>
            <a:ext cx="434926" cy="434926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2731487" y="5052240"/>
            <a:ext cx="1269984" cy="489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Skill Decompose</a:t>
            </a:r>
            <a:endParaRPr lang="en-US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526742" y="3587627"/>
            <a:ext cx="434926" cy="434926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104864" y="5174563"/>
            <a:ext cx="1269984" cy="244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Goal Input</a:t>
            </a:r>
            <a:endParaRPr lang="en-US" dirty="0"/>
          </a:p>
        </p:txBody>
      </p:sp>
      <p:sp>
        <p:nvSpPr>
          <p:cNvPr id="15" name="Text 7"/>
          <p:cNvSpPr/>
          <p:nvPr/>
        </p:nvSpPr>
        <p:spPr>
          <a:xfrm>
            <a:off x="845332" y="5684536"/>
            <a:ext cx="8420100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decision is made by the agent — no human input required after the initial goal. The Adaptor creates a closed feedback loop between session performance and the learning plan.</a:t>
            </a:r>
            <a:endParaRPr lang="en-US" dirty="0"/>
          </a:p>
        </p:txBody>
      </p:sp>
      <p:sp>
        <p:nvSpPr>
          <p:cNvPr id="16" name="Shape 8"/>
          <p:cNvSpPr/>
          <p:nvPr/>
        </p:nvSpPr>
        <p:spPr>
          <a:xfrm>
            <a:off x="9381618" y="890111"/>
            <a:ext cx="4318397" cy="732234"/>
          </a:xfrm>
          <a:prstGeom prst="roundRect">
            <a:avLst>
              <a:gd name="adj" fmla="val 1097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IN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798368" y="1158001"/>
            <a:ext cx="239197" cy="191333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0185151" y="1112579"/>
            <a:ext cx="3505200" cy="2821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Why This Architecture Wins</a:t>
            </a:r>
            <a:endParaRPr lang="en-US" dirty="0"/>
          </a:p>
        </p:txBody>
      </p:sp>
      <p:sp>
        <p:nvSpPr>
          <p:cNvPr id="26" name="Text 17"/>
          <p:cNvSpPr/>
          <p:nvPr/>
        </p:nvSpPr>
        <p:spPr>
          <a:xfrm>
            <a:off x="845332" y="6747782"/>
            <a:ext cx="7939136" cy="100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2000" b="1" dirty="0"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LLM + Fallback </a:t>
            </a:r>
            <a:r>
              <a:rPr lang="en-US" sz="20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—</a:t>
            </a:r>
            <a:r>
              <a:rPr lang="en-US" sz="2000" b="1" dirty="0"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</a:t>
            </a:r>
            <a:r>
              <a:rPr lang="en-US" sz="20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Gemini primary, </a:t>
            </a:r>
            <a:r>
              <a:rPr lang="en-US" sz="2000" dirty="0" err="1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Groq</a:t>
            </a:r>
            <a:r>
              <a:rPr lang="en-US" sz="20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fallback</a:t>
            </a:r>
          </a:p>
          <a:p>
            <a:pPr>
              <a:lnSpc>
                <a:spcPts val="2350"/>
              </a:lnSpc>
            </a:pPr>
            <a:r>
              <a:rPr lang="en-US" sz="2000" b="1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Shared Memory System</a:t>
            </a:r>
            <a:r>
              <a:rPr lang="en-US" sz="20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persistent context across all agents</a:t>
            </a:r>
            <a:endParaRPr lang="en-US" sz="2000" dirty="0"/>
          </a:p>
          <a:p>
            <a:pPr>
              <a:lnSpc>
                <a:spcPts val="2350"/>
              </a:lnSpc>
            </a:pPr>
            <a:r>
              <a:rPr lang="en-US" sz="2000" b="1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Parallel Execution</a:t>
            </a:r>
            <a:r>
              <a:rPr lang="en-US" sz="20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— agents run concurrently, not sequentially</a:t>
            </a:r>
            <a:endParaRPr lang="en-US" sz="2000" dirty="0"/>
          </a:p>
          <a:p>
            <a:pPr>
              <a:lnSpc>
                <a:spcPts val="2350"/>
              </a:lnSpc>
            </a:pPr>
            <a:endParaRPr lang="en-US" sz="2000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21A17E1-465C-249B-612B-38A82FEFB547}"/>
              </a:ext>
            </a:extLst>
          </p:cNvPr>
          <p:cNvSpPr/>
          <p:nvPr/>
        </p:nvSpPr>
        <p:spPr>
          <a:xfrm>
            <a:off x="11643360" y="7695684"/>
            <a:ext cx="2932176" cy="498356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296045E7-A135-BE30-46C2-322F8F245CF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1706748" y="7668960"/>
            <a:ext cx="2805399" cy="560640"/>
          </a:xfrm>
          <a:prstGeom prst="rect">
            <a:avLst/>
          </a:prstGeom>
        </p:spPr>
      </p:pic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7DF86026-4E6A-B412-2A62-07C5E96EF24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37101" y="1929661"/>
            <a:ext cx="5538435" cy="553843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A498F3EE-E949-85F9-EB67-F2C2BA1E9CD2}"/>
              </a:ext>
            </a:extLst>
          </p:cNvPr>
          <p:cNvSpPr txBox="1"/>
          <p:nvPr/>
        </p:nvSpPr>
        <p:spPr>
          <a:xfrm>
            <a:off x="3657600" y="3930134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—</a:t>
            </a:r>
            <a:r>
              <a:rPr lang="en-US" sz="1800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—</a:t>
            </a:r>
            <a:endParaRPr lang="en-IN" dirty="0"/>
          </a:p>
        </p:txBody>
      </p:sp>
      <p:sp>
        <p:nvSpPr>
          <p:cNvPr id="36" name="Text 8">
            <a:extLst>
              <a:ext uri="{FF2B5EF4-FFF2-40B4-BE49-F238E27FC236}">
                <a16:creationId xmlns:a16="http://schemas.microsoft.com/office/drawing/2014/main" id="{36639500-52DE-3150-3D87-13E15E490C96}"/>
              </a:ext>
            </a:extLst>
          </p:cNvPr>
          <p:cNvSpPr/>
          <p:nvPr/>
        </p:nvSpPr>
        <p:spPr>
          <a:xfrm>
            <a:off x="1096165" y="1983049"/>
            <a:ext cx="7680793" cy="5336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Parallel agents + shared memory + autonomous decisions = true agentic intelligence</a:t>
            </a:r>
            <a:endParaRPr lang="en-US" sz="1400" dirty="0"/>
          </a:p>
        </p:txBody>
      </p:sp>
      <p:pic>
        <p:nvPicPr>
          <p:cNvPr id="38" name="Image 6" descr="preencoded.png">
            <a:extLst>
              <a:ext uri="{FF2B5EF4-FFF2-40B4-BE49-F238E27FC236}">
                <a16:creationId xmlns:a16="http://schemas.microsoft.com/office/drawing/2014/main" id="{32775B7C-88FD-A841-214E-AFDBCCE29562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83244" y="2033062"/>
            <a:ext cx="236220" cy="1889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90568" y="449580"/>
            <a:ext cx="2037874" cy="2547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8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AGENTIC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651855" y="894587"/>
            <a:ext cx="6149816" cy="509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4800" dirty="0"/>
              <a:t>Frontier Agentic </a:t>
            </a:r>
            <a:r>
              <a:rPr lang="en-US" sz="4800" dirty="0" err="1"/>
              <a:t>Behaviour</a:t>
            </a:r>
            <a:endParaRPr lang="en-US" sz="4800" dirty="0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ABFA24C-488F-5B0B-C143-885FFE77F703}"/>
              </a:ext>
            </a:extLst>
          </p:cNvPr>
          <p:cNvSpPr/>
          <p:nvPr/>
        </p:nvSpPr>
        <p:spPr>
          <a:xfrm>
            <a:off x="10794380" y="7148319"/>
            <a:ext cx="3781156" cy="1025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800"/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5EED756B-98AC-897C-52BE-FCC8003ED7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0946125" y="7108548"/>
            <a:ext cx="3583914" cy="1114756"/>
          </a:xfrm>
          <a:prstGeom prst="rect">
            <a:avLst/>
          </a:prstGeom>
        </p:spPr>
      </p:pic>
      <p:sp>
        <p:nvSpPr>
          <p:cNvPr id="18" name="Shape 8">
            <a:extLst>
              <a:ext uri="{FF2B5EF4-FFF2-40B4-BE49-F238E27FC236}">
                <a16:creationId xmlns:a16="http://schemas.microsoft.com/office/drawing/2014/main" id="{E7F48458-8650-6123-ED4E-A4E0FF6DFB9C}"/>
              </a:ext>
            </a:extLst>
          </p:cNvPr>
          <p:cNvSpPr/>
          <p:nvPr/>
        </p:nvSpPr>
        <p:spPr>
          <a:xfrm>
            <a:off x="9646089" y="1594150"/>
            <a:ext cx="3805237" cy="2121932"/>
          </a:xfrm>
          <a:prstGeom prst="roundRect">
            <a:avLst>
              <a:gd name="adj" fmla="val 389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587C4502-E53A-6ABD-1D1E-DC4D0752D05F}"/>
              </a:ext>
            </a:extLst>
          </p:cNvPr>
          <p:cNvSpPr/>
          <p:nvPr/>
        </p:nvSpPr>
        <p:spPr>
          <a:xfrm>
            <a:off x="688419" y="1594150"/>
            <a:ext cx="3805237" cy="2121932"/>
          </a:xfrm>
          <a:prstGeom prst="roundRect">
            <a:avLst>
              <a:gd name="adj" fmla="val 389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C3E301F8-27C7-C0AF-AFD8-B2ECE4662079}"/>
              </a:ext>
            </a:extLst>
          </p:cNvPr>
          <p:cNvSpPr/>
          <p:nvPr/>
        </p:nvSpPr>
        <p:spPr>
          <a:xfrm>
            <a:off x="4984312" y="1594150"/>
            <a:ext cx="3805237" cy="2121932"/>
          </a:xfrm>
          <a:prstGeom prst="roundRect">
            <a:avLst>
              <a:gd name="adj" fmla="val 3893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72464BE-7315-5AF8-8C91-58696B64A0C4}"/>
              </a:ext>
            </a:extLst>
          </p:cNvPr>
          <p:cNvSpPr/>
          <p:nvPr/>
        </p:nvSpPr>
        <p:spPr>
          <a:xfrm>
            <a:off x="892728" y="1861921"/>
            <a:ext cx="2458641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Persistent Memory</a:t>
            </a:r>
            <a:endParaRPr lang="en-US" sz="28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3741DFCB-E714-30AE-914A-4931665B186F}"/>
              </a:ext>
            </a:extLst>
          </p:cNvPr>
          <p:cNvSpPr/>
          <p:nvPr/>
        </p:nvSpPr>
        <p:spPr>
          <a:xfrm>
            <a:off x="892728" y="2605778"/>
            <a:ext cx="3396615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Tracks all user progress, evolves the learner model over time</a:t>
            </a:r>
            <a:endParaRPr lang="en-US" sz="2000" dirty="0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A96D06A8-D43F-2AED-97BC-4B657AAC4AF8}"/>
              </a:ext>
            </a:extLst>
          </p:cNvPr>
          <p:cNvSpPr/>
          <p:nvPr/>
        </p:nvSpPr>
        <p:spPr>
          <a:xfrm>
            <a:off x="5192692" y="1852226"/>
            <a:ext cx="2560439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AgentDebate Protocol</a:t>
            </a:r>
            <a:endParaRPr lang="en-US" sz="2400" dirty="0"/>
          </a:p>
        </p:txBody>
      </p:sp>
      <p:sp>
        <p:nvSpPr>
          <p:cNvPr id="34" name="Text 11">
            <a:extLst>
              <a:ext uri="{FF2B5EF4-FFF2-40B4-BE49-F238E27FC236}">
                <a16:creationId xmlns:a16="http://schemas.microsoft.com/office/drawing/2014/main" id="{9985A38A-394C-32E2-2D67-3AFEB0295731}"/>
              </a:ext>
            </a:extLst>
          </p:cNvPr>
          <p:cNvSpPr/>
          <p:nvPr/>
        </p:nvSpPr>
        <p:spPr>
          <a:xfrm>
            <a:off x="5264352" y="2417602"/>
            <a:ext cx="3396615" cy="565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Multi-agent voting ensures verified, high-confidence decisions</a:t>
            </a:r>
            <a:endParaRPr lang="en-US" sz="200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147260ED-8BEB-C722-95CC-1FF5AA4EAB19}"/>
              </a:ext>
            </a:extLst>
          </p:cNvPr>
          <p:cNvSpPr/>
          <p:nvPr/>
        </p:nvSpPr>
        <p:spPr>
          <a:xfrm>
            <a:off x="9914067" y="1852226"/>
            <a:ext cx="2458641" cy="307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Failure Recovery</a:t>
            </a:r>
            <a:endParaRPr lang="en-US" sz="280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27D4D423-8329-238C-D1F0-D6D7ABC41B12}"/>
              </a:ext>
            </a:extLst>
          </p:cNvPr>
          <p:cNvSpPr/>
          <p:nvPr/>
        </p:nvSpPr>
        <p:spPr>
          <a:xfrm>
            <a:off x="9772056" y="2496720"/>
            <a:ext cx="7358539" cy="2826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 model switching —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self-healing system with </a:t>
            </a:r>
          </a:p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LLM fallback</a:t>
            </a:r>
            <a:endParaRPr lang="en-US" sz="2000" dirty="0"/>
          </a:p>
        </p:txBody>
      </p:sp>
      <p:pic>
        <p:nvPicPr>
          <p:cNvPr id="38" name="Image 0" descr="preencoded.png">
            <a:extLst>
              <a:ext uri="{FF2B5EF4-FFF2-40B4-BE49-F238E27FC236}">
                <a16:creationId xmlns:a16="http://schemas.microsoft.com/office/drawing/2014/main" id="{1CBDA54A-F551-FA37-2CC4-EF19DAED9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47549" y="2852498"/>
            <a:ext cx="4128763" cy="5505110"/>
          </a:xfrm>
          <a:prstGeom prst="rect">
            <a:avLst/>
          </a:prstGeom>
        </p:spPr>
      </p:pic>
      <p:sp>
        <p:nvSpPr>
          <p:cNvPr id="39" name="Shape 3">
            <a:extLst>
              <a:ext uri="{FF2B5EF4-FFF2-40B4-BE49-F238E27FC236}">
                <a16:creationId xmlns:a16="http://schemas.microsoft.com/office/drawing/2014/main" id="{917CB834-8C11-0523-3A56-E75B6CF7DD8D}"/>
              </a:ext>
            </a:extLst>
          </p:cNvPr>
          <p:cNvSpPr/>
          <p:nvPr/>
        </p:nvSpPr>
        <p:spPr>
          <a:xfrm>
            <a:off x="665558" y="4197596"/>
            <a:ext cx="5278042" cy="1658432"/>
          </a:xfrm>
          <a:prstGeom prst="roundRect">
            <a:avLst>
              <a:gd name="adj" fmla="val 4845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40" name="Shape 4">
            <a:extLst>
              <a:ext uri="{FF2B5EF4-FFF2-40B4-BE49-F238E27FC236}">
                <a16:creationId xmlns:a16="http://schemas.microsoft.com/office/drawing/2014/main" id="{4E77C965-D10F-9C39-9660-2F89D8D3D96C}"/>
              </a:ext>
            </a:extLst>
          </p:cNvPr>
          <p:cNvSpPr/>
          <p:nvPr/>
        </p:nvSpPr>
        <p:spPr>
          <a:xfrm>
            <a:off x="688419" y="4220455"/>
            <a:ext cx="5233878" cy="573879"/>
          </a:xfrm>
          <a:prstGeom prst="roundRect">
            <a:avLst>
              <a:gd name="adj" fmla="val 8956"/>
            </a:avLst>
          </a:prstGeom>
          <a:solidFill>
            <a:srgbClr val="003180"/>
          </a:solidFill>
          <a:ln/>
        </p:spPr>
      </p:sp>
      <p:pic>
        <p:nvPicPr>
          <p:cNvPr id="41" name="Image 0" descr="preencoded.png">
            <a:extLst>
              <a:ext uri="{FF2B5EF4-FFF2-40B4-BE49-F238E27FC236}">
                <a16:creationId xmlns:a16="http://schemas.microsoft.com/office/drawing/2014/main" id="{B68A6A00-2789-3FAF-F49A-1E0FB1E13D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1596" y="4352497"/>
            <a:ext cx="262569" cy="288470"/>
          </a:xfrm>
          <a:prstGeom prst="rect">
            <a:avLst/>
          </a:prstGeom>
        </p:spPr>
      </p:pic>
      <p:sp>
        <p:nvSpPr>
          <p:cNvPr id="42" name="Text 5">
            <a:extLst>
              <a:ext uri="{FF2B5EF4-FFF2-40B4-BE49-F238E27FC236}">
                <a16:creationId xmlns:a16="http://schemas.microsoft.com/office/drawing/2014/main" id="{3ADCEC7D-148C-4A29-253C-A7465B832B28}"/>
              </a:ext>
            </a:extLst>
          </p:cNvPr>
          <p:cNvSpPr/>
          <p:nvPr/>
        </p:nvSpPr>
        <p:spPr>
          <a:xfrm>
            <a:off x="869633" y="4897327"/>
            <a:ext cx="2542528" cy="298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Autonomous Dashboard</a:t>
            </a:r>
            <a:endParaRPr lang="en-US" dirty="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93E3173D-2D4C-CF72-9D4F-83FF93E8A2DE}"/>
              </a:ext>
            </a:extLst>
          </p:cNvPr>
          <p:cNvSpPr/>
          <p:nvPr/>
        </p:nvSpPr>
        <p:spPr>
          <a:xfrm>
            <a:off x="869632" y="5313569"/>
            <a:ext cx="4883788" cy="265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Real-time progress and AI decision tracking</a:t>
            </a:r>
            <a:endParaRPr lang="en-US" sz="1600" dirty="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164DF2E8-FB52-FE23-1940-48BEAAC6A306}"/>
              </a:ext>
            </a:extLst>
          </p:cNvPr>
          <p:cNvSpPr/>
          <p:nvPr/>
        </p:nvSpPr>
        <p:spPr>
          <a:xfrm>
            <a:off x="665558" y="5902095"/>
            <a:ext cx="5278042" cy="1658432"/>
          </a:xfrm>
          <a:prstGeom prst="roundRect">
            <a:avLst>
              <a:gd name="adj" fmla="val 4845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45" name="Shape 8">
            <a:extLst>
              <a:ext uri="{FF2B5EF4-FFF2-40B4-BE49-F238E27FC236}">
                <a16:creationId xmlns:a16="http://schemas.microsoft.com/office/drawing/2014/main" id="{8E5B5A1B-4C43-15BB-4477-256E6B32358A}"/>
              </a:ext>
            </a:extLst>
          </p:cNvPr>
          <p:cNvSpPr/>
          <p:nvPr/>
        </p:nvSpPr>
        <p:spPr>
          <a:xfrm>
            <a:off x="688419" y="5924954"/>
            <a:ext cx="5233878" cy="573879"/>
          </a:xfrm>
          <a:prstGeom prst="roundRect">
            <a:avLst>
              <a:gd name="adj" fmla="val 8956"/>
            </a:avLst>
          </a:prstGeom>
          <a:solidFill>
            <a:srgbClr val="003180"/>
          </a:solidFill>
          <a:ln/>
        </p:spPr>
      </p:sp>
      <p:pic>
        <p:nvPicPr>
          <p:cNvPr id="46" name="Image 1" descr="preencoded.png">
            <a:extLst>
              <a:ext uri="{FF2B5EF4-FFF2-40B4-BE49-F238E27FC236}">
                <a16:creationId xmlns:a16="http://schemas.microsoft.com/office/drawing/2014/main" id="{3C4CD80F-CBC8-F470-F443-EC64416CAC4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61596" y="6056995"/>
            <a:ext cx="262569" cy="288470"/>
          </a:xfrm>
          <a:prstGeom prst="rect">
            <a:avLst/>
          </a:prstGeom>
        </p:spPr>
      </p:pic>
      <p:sp>
        <p:nvSpPr>
          <p:cNvPr id="47" name="Text 9">
            <a:extLst>
              <a:ext uri="{FF2B5EF4-FFF2-40B4-BE49-F238E27FC236}">
                <a16:creationId xmlns:a16="http://schemas.microsoft.com/office/drawing/2014/main" id="{FE6F34EA-BC54-5B72-4183-52A9BE7B45D9}"/>
              </a:ext>
            </a:extLst>
          </p:cNvPr>
          <p:cNvSpPr/>
          <p:nvPr/>
        </p:nvSpPr>
        <p:spPr>
          <a:xfrm>
            <a:off x="869631" y="6601826"/>
            <a:ext cx="2188641" cy="298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Career Digital Twin</a:t>
            </a:r>
            <a:endParaRPr lang="en-US" dirty="0"/>
          </a:p>
        </p:txBody>
      </p:sp>
      <p:sp>
        <p:nvSpPr>
          <p:cNvPr id="48" name="Text 10">
            <a:extLst>
              <a:ext uri="{FF2B5EF4-FFF2-40B4-BE49-F238E27FC236}">
                <a16:creationId xmlns:a16="http://schemas.microsoft.com/office/drawing/2014/main" id="{56D14B3F-D9D4-42FD-B293-0AE43C0BF8C6}"/>
              </a:ext>
            </a:extLst>
          </p:cNvPr>
          <p:cNvSpPr/>
          <p:nvPr/>
        </p:nvSpPr>
        <p:spPr>
          <a:xfrm>
            <a:off x="869632" y="7018068"/>
            <a:ext cx="4883788" cy="265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Simulates career trajectories based on current skills</a:t>
            </a:r>
            <a:endParaRPr lang="en-US" sz="1400" dirty="0"/>
          </a:p>
        </p:txBody>
      </p:sp>
      <p:sp>
        <p:nvSpPr>
          <p:cNvPr id="52" name="Text 14">
            <a:extLst>
              <a:ext uri="{FF2B5EF4-FFF2-40B4-BE49-F238E27FC236}">
                <a16:creationId xmlns:a16="http://schemas.microsoft.com/office/drawing/2014/main" id="{5642A7C3-C49D-DDC3-6439-B3263EB12929}"/>
              </a:ext>
            </a:extLst>
          </p:cNvPr>
          <p:cNvSpPr/>
          <p:nvPr/>
        </p:nvSpPr>
        <p:spPr>
          <a:xfrm>
            <a:off x="892493" y="8544474"/>
            <a:ext cx="4601912" cy="5026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Every agent decision tagged with reasoning and confidence score</a:t>
            </a:r>
            <a:endParaRPr lang="en-US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51D3F036-7B19-7EE7-EBAB-0A8D846FF079}"/>
              </a:ext>
            </a:extLst>
          </p:cNvPr>
          <p:cNvSpPr/>
          <p:nvPr/>
        </p:nvSpPr>
        <p:spPr>
          <a:xfrm>
            <a:off x="6341513" y="3352049"/>
            <a:ext cx="1683677" cy="31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CurriculumAgent</a:t>
            </a:r>
            <a:endParaRPr lang="en-US" sz="1750" dirty="0"/>
          </a:p>
        </p:txBody>
      </p:sp>
      <p:sp>
        <p:nvSpPr>
          <p:cNvPr id="55" name="Shape 20">
            <a:extLst>
              <a:ext uri="{FF2B5EF4-FFF2-40B4-BE49-F238E27FC236}">
                <a16:creationId xmlns:a16="http://schemas.microsoft.com/office/drawing/2014/main" id="{81AF4191-61C2-87B2-7B02-5AF7F1EB4FB9}"/>
              </a:ext>
            </a:extLst>
          </p:cNvPr>
          <p:cNvSpPr/>
          <p:nvPr/>
        </p:nvSpPr>
        <p:spPr>
          <a:xfrm>
            <a:off x="6068860" y="4264369"/>
            <a:ext cx="4368681" cy="1441203"/>
          </a:xfrm>
          <a:prstGeom prst="roundRect">
            <a:avLst>
              <a:gd name="adj" fmla="val 8268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251B4C6B-E4F5-AB49-5B8A-01B2C87F73E3}"/>
              </a:ext>
            </a:extLst>
          </p:cNvPr>
          <p:cNvSpPr/>
          <p:nvPr/>
        </p:nvSpPr>
        <p:spPr>
          <a:xfrm>
            <a:off x="6341513" y="4539534"/>
            <a:ext cx="1811558" cy="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AdaptorAgent</a:t>
            </a:r>
            <a:endParaRPr lang="en-US" sz="1750" dirty="0"/>
          </a:p>
        </p:txBody>
      </p:sp>
      <p:sp>
        <p:nvSpPr>
          <p:cNvPr id="58" name="Text 23">
            <a:extLst>
              <a:ext uri="{FF2B5EF4-FFF2-40B4-BE49-F238E27FC236}">
                <a16:creationId xmlns:a16="http://schemas.microsoft.com/office/drawing/2014/main" id="{FD999337-A35B-FA75-3B52-63288DB42324}"/>
              </a:ext>
            </a:extLst>
          </p:cNvPr>
          <p:cNvSpPr/>
          <p:nvPr/>
        </p:nvSpPr>
        <p:spPr>
          <a:xfrm>
            <a:off x="6325645" y="4966562"/>
            <a:ext cx="3987521" cy="70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Decision: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Recalibrate learning path</a:t>
            </a:r>
            <a:endParaRPr lang="en-US" sz="14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Evidence: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Multiple low scores detected</a:t>
            </a:r>
            <a:endParaRPr lang="en-US" sz="1400" dirty="0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870BF865-5F4A-7B46-20C4-3BA83DBB34C9}"/>
              </a:ext>
            </a:extLst>
          </p:cNvPr>
          <p:cNvSpPr/>
          <p:nvPr/>
        </p:nvSpPr>
        <p:spPr>
          <a:xfrm>
            <a:off x="6068860" y="6028582"/>
            <a:ext cx="4260173" cy="1366753"/>
          </a:xfrm>
          <a:prstGeom prst="roundRect">
            <a:avLst>
              <a:gd name="adj" fmla="val 8268"/>
            </a:avLst>
          </a:prstGeom>
          <a:solidFill>
            <a:srgbClr val="09151A">
              <a:alpha val="95000"/>
            </a:srgbClr>
          </a:solidFill>
          <a:ln w="22860">
            <a:solidFill>
              <a:srgbClr val="194A99"/>
            </a:solidFill>
            <a:prstDash val="solid"/>
          </a:ln>
        </p:spPr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C4F5ECDC-3D48-1670-381C-94D8A8885F01}"/>
              </a:ext>
            </a:extLst>
          </p:cNvPr>
          <p:cNvSpPr/>
          <p:nvPr/>
        </p:nvSpPr>
        <p:spPr>
          <a:xfrm>
            <a:off x="6341513" y="6193774"/>
            <a:ext cx="1811558" cy="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MarketAgent</a:t>
            </a:r>
            <a:endParaRPr lang="en-US" sz="1750" dirty="0"/>
          </a:p>
        </p:txBody>
      </p:sp>
      <p:sp>
        <p:nvSpPr>
          <p:cNvPr id="62" name="Text 27">
            <a:extLst>
              <a:ext uri="{FF2B5EF4-FFF2-40B4-BE49-F238E27FC236}">
                <a16:creationId xmlns:a16="http://schemas.microsoft.com/office/drawing/2014/main" id="{A4E93446-68BC-802A-AF80-68F3009FF2EB}"/>
              </a:ext>
            </a:extLst>
          </p:cNvPr>
          <p:cNvSpPr/>
          <p:nvPr/>
        </p:nvSpPr>
        <p:spPr>
          <a:xfrm>
            <a:off x="6341512" y="6590774"/>
            <a:ext cx="3987521" cy="704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Decision: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Update skill priorities</a:t>
            </a:r>
            <a:endParaRPr lang="en-US" sz="14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4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Evidence:</a:t>
            </a:r>
            <a:r>
              <a:rPr lang="en-US" sz="1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Industry demand analysis shift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5085C-1AD3-76C8-B385-90106F070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A7034A9-872A-80E4-01AA-1B4D1F92B12A}"/>
              </a:ext>
            </a:extLst>
          </p:cNvPr>
          <p:cNvSpPr/>
          <p:nvPr/>
        </p:nvSpPr>
        <p:spPr>
          <a:xfrm>
            <a:off x="1323737" y="54221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Tech Stack</a:t>
            </a:r>
            <a:endParaRPr lang="en-US" sz="24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CECC728-5422-56E2-9AFD-61ED3C71D697}"/>
              </a:ext>
            </a:extLst>
          </p:cNvPr>
          <p:cNvSpPr/>
          <p:nvPr/>
        </p:nvSpPr>
        <p:spPr>
          <a:xfrm>
            <a:off x="1276469" y="1090077"/>
            <a:ext cx="7895511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300"/>
              </a:lnSpc>
            </a:pP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Production-Grade Infrastructure</a:t>
            </a:r>
            <a:endParaRPr lang="en-US" sz="4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25C8A0-3F6E-5FDB-C423-AADE39539649}"/>
              </a:ext>
            </a:extLst>
          </p:cNvPr>
          <p:cNvSpPr/>
          <p:nvPr/>
        </p:nvSpPr>
        <p:spPr>
          <a:xfrm>
            <a:off x="10794380" y="7148319"/>
            <a:ext cx="3781156" cy="1025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714BC9A7-CF4B-9CBA-F4EC-E8C9A6A36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0946125" y="7108548"/>
            <a:ext cx="3583914" cy="1114756"/>
          </a:xfrm>
          <a:prstGeom prst="rect">
            <a:avLst/>
          </a:prstGeom>
        </p:spPr>
      </p:pic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A71D63A1-B248-F181-0800-5AD0A5E949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1158"/>
          <a:stretch>
            <a:fillRect/>
          </a:stretch>
        </p:blipFill>
        <p:spPr>
          <a:xfrm>
            <a:off x="232649" y="1795778"/>
            <a:ext cx="7225991" cy="5907815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F064E1F-6075-0F8E-EF99-37CA41095095}"/>
              </a:ext>
            </a:extLst>
          </p:cNvPr>
          <p:cNvSpPr txBox="1"/>
          <p:nvPr/>
        </p:nvSpPr>
        <p:spPr>
          <a:xfrm>
            <a:off x="8062332" y="2085278"/>
            <a:ext cx="5943600" cy="4973686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34" name="Text 2">
            <a:extLst>
              <a:ext uri="{FF2B5EF4-FFF2-40B4-BE49-F238E27FC236}">
                <a16:creationId xmlns:a16="http://schemas.microsoft.com/office/drawing/2014/main" id="{39BEDE34-A51D-FC56-41A9-07CAE06D9E9A}"/>
              </a:ext>
            </a:extLst>
          </p:cNvPr>
          <p:cNvSpPr/>
          <p:nvPr/>
        </p:nvSpPr>
        <p:spPr>
          <a:xfrm>
            <a:off x="9171980" y="2431755"/>
            <a:ext cx="2115145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Performance Benchmarks</a:t>
            </a:r>
            <a:endParaRPr lang="en-US" sz="2400" dirty="0"/>
          </a:p>
        </p:txBody>
      </p:sp>
      <p:sp>
        <p:nvSpPr>
          <p:cNvPr id="36" name="Text 3">
            <a:extLst>
              <a:ext uri="{FF2B5EF4-FFF2-40B4-BE49-F238E27FC236}">
                <a16:creationId xmlns:a16="http://schemas.microsoft.com/office/drawing/2014/main" id="{507B2706-7C20-0915-3C16-EC3C7FF8F1C6}"/>
              </a:ext>
            </a:extLst>
          </p:cNvPr>
          <p:cNvSpPr/>
          <p:nvPr/>
        </p:nvSpPr>
        <p:spPr>
          <a:xfrm>
            <a:off x="8185304" y="3095129"/>
            <a:ext cx="2760821" cy="445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&lt;90s</a:t>
            </a:r>
            <a:endParaRPr lang="en-US" sz="35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21902542-B1DD-161E-A16D-E9917DF46DFB}"/>
              </a:ext>
            </a:extLst>
          </p:cNvPr>
          <p:cNvSpPr/>
          <p:nvPr/>
        </p:nvSpPr>
        <p:spPr>
          <a:xfrm>
            <a:off x="3081576" y="6395204"/>
            <a:ext cx="2760821" cy="445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&lt;90s</a:t>
            </a:r>
            <a:endParaRPr lang="en-US" sz="35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18A6ADFA-8169-AE2B-C9C9-4DE61067F438}"/>
              </a:ext>
            </a:extLst>
          </p:cNvPr>
          <p:cNvSpPr/>
          <p:nvPr/>
        </p:nvSpPr>
        <p:spPr>
          <a:xfrm>
            <a:off x="10443507" y="3201094"/>
            <a:ext cx="1687235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Full Pipeline Run</a:t>
            </a:r>
            <a:endParaRPr lang="en-US" sz="1300" dirty="0"/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5CF24F61-5352-ED8C-52A0-9E971F322CE0}"/>
              </a:ext>
            </a:extLst>
          </p:cNvPr>
          <p:cNvSpPr/>
          <p:nvPr/>
        </p:nvSpPr>
        <p:spPr>
          <a:xfrm>
            <a:off x="8273192" y="4126708"/>
            <a:ext cx="2760940" cy="445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99.9%</a:t>
            </a:r>
            <a:endParaRPr lang="en-US" sz="3500" dirty="0"/>
          </a:p>
        </p:txBody>
      </p:sp>
      <p:sp>
        <p:nvSpPr>
          <p:cNvPr id="42" name="Text 6">
            <a:extLst>
              <a:ext uri="{FF2B5EF4-FFF2-40B4-BE49-F238E27FC236}">
                <a16:creationId xmlns:a16="http://schemas.microsoft.com/office/drawing/2014/main" id="{8EECA432-3E09-927F-EE1A-43221BA5F26D}"/>
              </a:ext>
            </a:extLst>
          </p:cNvPr>
          <p:cNvSpPr/>
          <p:nvPr/>
        </p:nvSpPr>
        <p:spPr>
          <a:xfrm>
            <a:off x="10378690" y="4243984"/>
            <a:ext cx="1687235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Uptime</a:t>
            </a:r>
            <a:endParaRPr lang="en-US" sz="1300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A437868C-C5B5-04F0-E9D1-B2EFB3E01362}"/>
              </a:ext>
            </a:extLst>
          </p:cNvPr>
          <p:cNvSpPr/>
          <p:nvPr/>
        </p:nvSpPr>
        <p:spPr>
          <a:xfrm>
            <a:off x="8185303" y="5087873"/>
            <a:ext cx="2760821" cy="4454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00"/>
              </a:lnSpc>
              <a:buNone/>
            </a:pPr>
            <a:r>
              <a:rPr lang="en-US" sz="35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2x</a:t>
            </a:r>
            <a:endParaRPr lang="en-US" sz="3500" dirty="0"/>
          </a:p>
        </p:txBody>
      </p:sp>
      <p:sp>
        <p:nvSpPr>
          <p:cNvPr id="44" name="Text 8">
            <a:extLst>
              <a:ext uri="{FF2B5EF4-FFF2-40B4-BE49-F238E27FC236}">
                <a16:creationId xmlns:a16="http://schemas.microsoft.com/office/drawing/2014/main" id="{E58D58A4-A2F8-3FD9-5B45-CFCBBAEC6D79}"/>
              </a:ext>
            </a:extLst>
          </p:cNvPr>
          <p:cNvSpPr/>
          <p:nvPr/>
        </p:nvSpPr>
        <p:spPr>
          <a:xfrm>
            <a:off x="10555181" y="5257256"/>
            <a:ext cx="1687235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LLM Redundancy</a:t>
            </a:r>
            <a:endParaRPr lang="en-US" sz="13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74D9FBDA-AA82-0B18-B17C-13821ED6623A}"/>
              </a:ext>
            </a:extLst>
          </p:cNvPr>
          <p:cNvSpPr/>
          <p:nvPr/>
        </p:nvSpPr>
        <p:spPr>
          <a:xfrm>
            <a:off x="8295494" y="5735788"/>
            <a:ext cx="7893844" cy="334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Dual LLM reliability — Gemini primary + Groq fallback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ZERO - Single point of failure. 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 self-heals and continues autonomously.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955287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23737" y="54221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Market Positioning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323737" y="866537"/>
            <a:ext cx="7895511" cy="542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44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We Own the Quadrant No One Else Is In</a:t>
            </a:r>
            <a:endParaRPr lang="en-US" sz="4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5789" r="8738"/>
          <a:stretch>
            <a:fillRect/>
          </a:stretch>
        </p:blipFill>
        <p:spPr>
          <a:xfrm>
            <a:off x="0" y="1725565"/>
            <a:ext cx="4939991" cy="577953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9736" y="2340531"/>
            <a:ext cx="347305" cy="347305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483134" y="2400181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Full Personalization</a:t>
            </a:r>
            <a:endParaRPr lang="en-US" sz="2000" dirty="0"/>
          </a:p>
        </p:txBody>
      </p:sp>
      <p:sp>
        <p:nvSpPr>
          <p:cNvPr id="8" name="Text 3"/>
          <p:cNvSpPr/>
          <p:nvPr/>
        </p:nvSpPr>
        <p:spPr>
          <a:xfrm>
            <a:off x="5483134" y="2804279"/>
            <a:ext cx="526613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skill tree, question, and plan built for 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learner's specific goal and diagnosed gaps.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9736" y="3560683"/>
            <a:ext cx="347305" cy="34730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483134" y="3620333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Full Autonomy</a:t>
            </a:r>
            <a:endParaRPr lang="en-US" sz="2000" dirty="0"/>
          </a:p>
        </p:txBody>
      </p:sp>
      <p:sp>
        <p:nvSpPr>
          <p:cNvPr id="11" name="Text 5"/>
          <p:cNvSpPr/>
          <p:nvPr/>
        </p:nvSpPr>
        <p:spPr>
          <a:xfrm>
            <a:off x="5483134" y="4024432"/>
            <a:ext cx="526613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No human teacher or coach needed. 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The agent runs the entire loop independently.</a:t>
            </a:r>
            <a:endParaRPr lang="en-US" sz="16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9736" y="4780836"/>
            <a:ext cx="347305" cy="34730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5483134" y="4840486"/>
            <a:ext cx="224813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Real-Time Adaptation</a:t>
            </a:r>
            <a:endParaRPr lang="en-US" sz="2000" dirty="0"/>
          </a:p>
        </p:txBody>
      </p:sp>
      <p:sp>
        <p:nvSpPr>
          <p:cNvPr id="14" name="Text 7"/>
          <p:cNvSpPr/>
          <p:nvPr/>
        </p:nvSpPr>
        <p:spPr>
          <a:xfrm>
            <a:off x="5483134" y="5244584"/>
            <a:ext cx="526613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Mid-journey plan modification based on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live session performance</a:t>
            </a:r>
            <a:endParaRPr lang="en-US" sz="16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69736" y="6000988"/>
            <a:ext cx="347305" cy="347305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483134" y="6060638"/>
            <a:ext cx="2170748" cy="2712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0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Full Explainability</a:t>
            </a:r>
            <a:endParaRPr lang="en-US" sz="2000" dirty="0"/>
          </a:p>
        </p:txBody>
      </p:sp>
      <p:sp>
        <p:nvSpPr>
          <p:cNvPr id="17" name="Text 9"/>
          <p:cNvSpPr/>
          <p:nvPr/>
        </p:nvSpPr>
        <p:spPr>
          <a:xfrm>
            <a:off x="5483134" y="6464737"/>
            <a:ext cx="5266134" cy="4905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agent decision logged with reasoning </a:t>
            </a:r>
          </a:p>
          <a:p>
            <a:pPr marL="0" indent="0" algn="l">
              <a:lnSpc>
                <a:spcPts val="1900"/>
              </a:lnSpc>
              <a:buNone/>
            </a:pPr>
            <a:r>
              <a:rPr lang="en-US" sz="16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— a transparency layer even GPT tutors lack.</a:t>
            </a:r>
            <a:endParaRPr lang="en-US" sz="16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E42E500-05E4-92D2-EE97-BBB2E1ECCFED}"/>
              </a:ext>
            </a:extLst>
          </p:cNvPr>
          <p:cNvSpPr/>
          <p:nvPr/>
        </p:nvSpPr>
        <p:spPr>
          <a:xfrm>
            <a:off x="10794380" y="7148319"/>
            <a:ext cx="3781156" cy="1025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8C91240F-EFAC-5BA7-3CD6-0426349A5AF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0946125" y="7108548"/>
            <a:ext cx="3583914" cy="1114756"/>
          </a:xfrm>
          <a:prstGeom prst="rect">
            <a:avLst/>
          </a:prstGeom>
        </p:spPr>
      </p:pic>
      <p:pic>
        <p:nvPicPr>
          <p:cNvPr id="21" name="Image 0" descr="preencoded.png">
            <a:extLst>
              <a:ext uri="{FF2B5EF4-FFF2-40B4-BE49-F238E27FC236}">
                <a16:creationId xmlns:a16="http://schemas.microsoft.com/office/drawing/2014/main" id="{24524534-71EA-D7F3-617E-9165FE37F066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5481" t="4806" r="7800" b="6271"/>
          <a:stretch>
            <a:fillRect/>
          </a:stretch>
        </p:blipFill>
        <p:spPr>
          <a:xfrm>
            <a:off x="9877794" y="2111076"/>
            <a:ext cx="4688638" cy="48077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610631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Innovation 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12351" y="974129"/>
            <a:ext cx="9091970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4800" b="1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Four Things That Make SkillForge Unique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712351" y="1814353"/>
            <a:ext cx="6522006" cy="2375773"/>
          </a:xfrm>
          <a:prstGeom prst="roundRect">
            <a:avLst>
              <a:gd name="adj" fmla="val 338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1304" y="2013306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5E4CE6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181" y="2171183"/>
            <a:ext cx="258366" cy="2583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1304" y="2748874"/>
            <a:ext cx="3057644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Dynamic Domain Detection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1304" y="3144638"/>
            <a:ext cx="6124099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Works for </a:t>
            </a:r>
            <a:r>
              <a:rPr lang="en-US" sz="2000" b="1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any</a:t>
            </a:r>
            <a:r>
              <a:rPr lang="en-US" sz="200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learning goal. Keyword scoring detects domain from natural language; dynamic builder creates custom skill trees for unknown domains.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7395805" y="1814353"/>
            <a:ext cx="6522125" cy="2375773"/>
          </a:xfrm>
          <a:prstGeom prst="roundRect">
            <a:avLst>
              <a:gd name="adj" fmla="val 3383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94759" y="2013306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5E4CE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52636" y="2171183"/>
            <a:ext cx="258366" cy="2583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94759" y="2748874"/>
            <a:ext cx="351948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Mid-Journey Adaptive Planning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7594759" y="3144638"/>
            <a:ext cx="6124218" cy="846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Continuously monitors performance and modifies the active plan. Rolling avg above 88%? Compress. Below 50%? Reinforce. A genuine control loop.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712351" y="4507688"/>
            <a:ext cx="6522006" cy="2093595"/>
          </a:xfrm>
          <a:prstGeom prst="roundRect">
            <a:avLst>
              <a:gd name="adj" fmla="val 383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11304" y="4550528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5E4CE6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9181" y="4708405"/>
            <a:ext cx="258366" cy="2583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1304" y="5286096"/>
            <a:ext cx="2951202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Agent Transparency Layer</a:t>
            </a:r>
            <a:endParaRPr lang="en-US" sz="2800" dirty="0"/>
          </a:p>
        </p:txBody>
      </p:sp>
      <p:sp>
        <p:nvSpPr>
          <p:cNvPr id="18" name="Text 13"/>
          <p:cNvSpPr/>
          <p:nvPr/>
        </p:nvSpPr>
        <p:spPr>
          <a:xfrm>
            <a:off x="911304" y="5636296"/>
            <a:ext cx="6124099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Every decision captured with type, title, detail, and human-readable reasoning. Full audit trail — no black box.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395805" y="4507688"/>
            <a:ext cx="6522125" cy="2093595"/>
          </a:xfrm>
          <a:prstGeom prst="roundRect">
            <a:avLst>
              <a:gd name="adj" fmla="val 3839"/>
            </a:avLst>
          </a:prstGeom>
          <a:solidFill>
            <a:srgbClr val="E9E6FA"/>
          </a:solidFill>
          <a:ln w="7620">
            <a:solidFill>
              <a:srgbClr val="BDB8D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594759" y="4550528"/>
            <a:ext cx="574119" cy="574119"/>
          </a:xfrm>
          <a:prstGeom prst="roundRect">
            <a:avLst>
              <a:gd name="adj" fmla="val 15925419"/>
            </a:avLst>
          </a:prstGeom>
          <a:solidFill>
            <a:srgbClr val="5E4CE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52636" y="4708405"/>
            <a:ext cx="258366" cy="2583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94759" y="5286096"/>
            <a:ext cx="3736062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800" b="1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LLM-Enhanced + Offline Fallback</a:t>
            </a:r>
            <a:endParaRPr lang="en-US" sz="2800" dirty="0"/>
          </a:p>
        </p:txBody>
      </p:sp>
      <p:sp>
        <p:nvSpPr>
          <p:cNvPr id="23" name="Text 17"/>
          <p:cNvSpPr/>
          <p:nvPr/>
        </p:nvSpPr>
        <p:spPr>
          <a:xfrm>
            <a:off x="7594758" y="5624405"/>
            <a:ext cx="6124218" cy="564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000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GPT-4o-mini enriches skill trees, questions, challenges, and reports when online. Rule-based fallbacks ensure full functionality offline.</a:t>
            </a:r>
            <a:endParaRPr lang="en-US" sz="2000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2D0515B-4F80-3E63-BE4B-77BB44A1C47D}"/>
              </a:ext>
            </a:extLst>
          </p:cNvPr>
          <p:cNvSpPr/>
          <p:nvPr/>
        </p:nvSpPr>
        <p:spPr>
          <a:xfrm>
            <a:off x="10794380" y="7148319"/>
            <a:ext cx="3781156" cy="1025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8" name="Graphic 27">
            <a:extLst>
              <a:ext uri="{FF2B5EF4-FFF2-40B4-BE49-F238E27FC236}">
                <a16:creationId xmlns:a16="http://schemas.microsoft.com/office/drawing/2014/main" id="{53A9F110-0737-987E-5218-F4D397D36D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0946125" y="7108548"/>
            <a:ext cx="3583914" cy="11147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22697"/>
            <a:ext cx="12213431" cy="871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6850"/>
              </a:lnSpc>
              <a:buNone/>
            </a:pPr>
            <a:r>
              <a:rPr lang="en-US" sz="6000" b="1" dirty="0">
                <a:solidFill>
                  <a:srgbClr val="231971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The Future of Skill Mastery Is Agentic.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06993" y="1853684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SkillForge AI proves a single autonomous agent can diagnose, plan, teach, evaluate, adapt, and certify — replacing an entire learning institution's workflow with a loop that runs without human instruction.</a:t>
            </a: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092826" y="2644616"/>
            <a:ext cx="6652736" cy="3466052"/>
          </a:xfrm>
          <a:prstGeom prst="roundRect">
            <a:avLst>
              <a:gd name="adj" fmla="val 2945"/>
            </a:avLst>
          </a:prstGeom>
          <a:solidFill>
            <a:srgbClr val="5E4CE6">
              <a:alpha val="95000"/>
            </a:srgbClr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5" name="Text 3"/>
          <p:cNvSpPr/>
          <p:nvPr/>
        </p:nvSpPr>
        <p:spPr>
          <a:xfrm>
            <a:off x="5119806" y="284702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What We've Built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496686" y="3151507"/>
            <a:ext cx="6248876" cy="1262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9-agent autonomous pipeline, fully functional agentic loop</a:t>
            </a:r>
            <a:endParaRPr lang="en-US" sz="2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Session adaptive learning journey</a:t>
            </a:r>
            <a:endParaRPr lang="en-US" sz="2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Skill improvement demonstrated</a:t>
            </a:r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260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Platform – With Closed Loop AI</a:t>
            </a:r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8299" y="6455569"/>
            <a:ext cx="303014" cy="30301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58525" y="6484835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450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🤝</a:t>
            </a:r>
            <a:r>
              <a:rPr lang="en-US" sz="2400" b="1" dirty="0">
                <a:solidFill>
                  <a:srgbClr val="2A2742"/>
                </a:solidFill>
                <a:latin typeface="Outfit Extra Bold" pitchFamily="34" charset="0"/>
                <a:ea typeface="Outfit Extra Bold" pitchFamily="34" charset="-122"/>
                <a:cs typeface="Outfit Extra Bold" pitchFamily="34" charset="-120"/>
              </a:rPr>
              <a:t> Connect With Us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2513876" y="6975588"/>
            <a:ext cx="8162693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400"/>
              </a:lnSpc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9110341228 | </a:t>
            </a: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5"/>
              </a:rPr>
              <a:t>gsssai2005@gmail.com</a:t>
            </a: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| </a:t>
            </a: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  <a:hlinkClick r:id="rId6"/>
              </a:rPr>
              <a:t>LinkedIn</a:t>
            </a:r>
            <a:endParaRPr lang="en-US" dirty="0">
              <a:solidFill>
                <a:srgbClr val="2A2742"/>
              </a:solidFill>
              <a:latin typeface="Arimo" pitchFamily="34" charset="0"/>
              <a:ea typeface="Arimo" pitchFamily="34" charset="-122"/>
              <a:cs typeface="Arimo" pitchFamily="34" charset="-120"/>
            </a:endParaRPr>
          </a:p>
          <a:p>
            <a:pPr marL="0" indent="0" algn="ctr">
              <a:lnSpc>
                <a:spcPts val="2400"/>
              </a:lnSpc>
              <a:buNone/>
            </a:pPr>
            <a:r>
              <a:rPr lang="en-US" dirty="0">
                <a:solidFill>
                  <a:srgbClr val="2A2742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Let's talk about the future of learning</a:t>
            </a:r>
            <a:endParaRPr lang="en-US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9F958E-BC4C-17F3-C09E-E1453E56805A}"/>
              </a:ext>
            </a:extLst>
          </p:cNvPr>
          <p:cNvSpPr/>
          <p:nvPr/>
        </p:nvSpPr>
        <p:spPr>
          <a:xfrm>
            <a:off x="10794380" y="7148319"/>
            <a:ext cx="3781156" cy="1025401"/>
          </a:xfrm>
          <a:prstGeom prst="round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B56972F-2A09-15D9-EB0A-8FE4AA4799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4830" t="19600" r="34358" b="17349"/>
          <a:stretch>
            <a:fillRect/>
          </a:stretch>
        </p:blipFill>
        <p:spPr>
          <a:xfrm>
            <a:off x="10946125" y="7108548"/>
            <a:ext cx="3583914" cy="1114756"/>
          </a:xfrm>
          <a:prstGeom prst="rect">
            <a:avLst/>
          </a:prstGeom>
        </p:spPr>
      </p:pic>
      <p:sp>
        <p:nvSpPr>
          <p:cNvPr id="7" name="Text 20">
            <a:extLst>
              <a:ext uri="{FF2B5EF4-FFF2-40B4-BE49-F238E27FC236}">
                <a16:creationId xmlns:a16="http://schemas.microsoft.com/office/drawing/2014/main" id="{6AB5F11A-7B0D-8B05-1DDF-B99DC0F3DC6F}"/>
              </a:ext>
            </a:extLst>
          </p:cNvPr>
          <p:cNvSpPr/>
          <p:nvPr/>
        </p:nvSpPr>
        <p:spPr>
          <a:xfrm>
            <a:off x="2683488" y="7881316"/>
            <a:ext cx="7875270" cy="251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b="1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SkillForge</a:t>
            </a:r>
            <a:r>
              <a:rPr lang="en-US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· Team AI4AP · HackAP Hackathon – Agentic AI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830</Words>
  <Application>Microsoft Office PowerPoint</Application>
  <PresentationFormat>Custom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Arimo</vt:lpstr>
      <vt:lpstr>Merriweather</vt:lpstr>
      <vt:lpstr>Arial</vt:lpstr>
      <vt:lpstr>Outfit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SUMITH GURU</cp:lastModifiedBy>
  <cp:revision>4</cp:revision>
  <dcterms:created xsi:type="dcterms:W3CDTF">2026-04-26T17:08:02Z</dcterms:created>
  <dcterms:modified xsi:type="dcterms:W3CDTF">2026-05-03T04:57:00Z</dcterms:modified>
</cp:coreProperties>
</file>